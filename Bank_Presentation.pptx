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66" r:id="rId4"/>
    <p:sldId id="267" r:id="rId5"/>
    <p:sldId id="262" r:id="rId6"/>
    <p:sldId id="273" r:id="rId7"/>
    <p:sldId id="274" r:id="rId8"/>
    <p:sldId id="275" r:id="rId9"/>
    <p:sldId id="270" r:id="rId10"/>
    <p:sldId id="271" r:id="rId11"/>
    <p:sldId id="272" r:id="rId12"/>
    <p:sldId id="265" r:id="rId13"/>
    <p:sldId id="268" r:id="rId14"/>
    <p:sldId id="269" r:id="rId15"/>
    <p:sldId id="277" r:id="rId16"/>
    <p:sldId id="263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3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7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7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0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1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9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9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2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94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4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74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2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76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1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3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39" y="878123"/>
            <a:ext cx="5917679" cy="1851009"/>
          </a:xfrm>
        </p:spPr>
        <p:txBody>
          <a:bodyPr/>
          <a:lstStyle/>
          <a:p>
            <a:r>
              <a:rPr dirty="0"/>
              <a:t>Banking Performance &amp; Strategic Focus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2729132"/>
            <a:ext cx="5917679" cy="290966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Insights &amp; Recommendations</a:t>
            </a:r>
          </a:p>
          <a:p>
            <a:r>
              <a:rPr dirty="0"/>
              <a:t>Presented by: </a:t>
            </a:r>
            <a:r>
              <a:rPr lang="en-US" dirty="0"/>
              <a:t>( Group 6 )</a:t>
            </a:r>
          </a:p>
          <a:p>
            <a:r>
              <a:rPr lang="en-US" dirty="0"/>
              <a:t>                          1.Neha</a:t>
            </a:r>
          </a:p>
          <a:p>
            <a:r>
              <a:rPr lang="en-US" dirty="0"/>
              <a:t>                          2.Naziya</a:t>
            </a:r>
          </a:p>
          <a:p>
            <a:r>
              <a:rPr lang="en-US" dirty="0"/>
              <a:t>                          3.Binita</a:t>
            </a:r>
          </a:p>
          <a:p>
            <a:r>
              <a:rPr lang="en-US" dirty="0"/>
              <a:t>                          4.Ananya</a:t>
            </a:r>
          </a:p>
          <a:p>
            <a:r>
              <a:rPr lang="en-US" dirty="0"/>
              <a:t>                          5.Pooja</a:t>
            </a:r>
          </a:p>
          <a:p>
            <a:r>
              <a:rPr lang="en-US" dirty="0"/>
              <a:t>                          6.Prathmesh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of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941993" cy="3813126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/>
              <a:t>A financial institution licensed to receive deposits and make loans.</a:t>
            </a:r>
          </a:p>
          <a:p>
            <a:r>
              <a:rPr lang="en-US" sz="2400" dirty="0"/>
              <a:t>Offers savings, checking accounts, loans, credit/debit cards, and more.</a:t>
            </a:r>
          </a:p>
          <a:p>
            <a:r>
              <a:rPr lang="en-US" sz="2400" dirty="0"/>
              <a:t>Acts as a financial intermediary between depositors and borrowers.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4EA1-2193-4328-A1B1-B3EC7788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Bank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10D04-5840-4BA4-91EC-49C2410B2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9918" y="2236763"/>
            <a:ext cx="3633502" cy="49236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How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It Works</a:t>
            </a:r>
            <a:endParaRPr lang="en-IN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BA5A5-C97D-4ECC-9B19-CFA1FED61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440" y="2841675"/>
            <a:ext cx="3636980" cy="35872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Deposits: Customers place money into bank accounts.</a:t>
            </a:r>
          </a:p>
          <a:p>
            <a:r>
              <a:rPr lang="en-US" dirty="0"/>
              <a:t>Lending: Banks loan deposited funds to individuals/businesses.</a:t>
            </a:r>
          </a:p>
          <a:p>
            <a:r>
              <a:rPr lang="en-US" dirty="0"/>
              <a:t>Revenue: Earns interest and fees from loans and services.</a:t>
            </a:r>
          </a:p>
          <a:p>
            <a:r>
              <a:rPr lang="en-US" dirty="0"/>
              <a:t>Provides services like ATMs, mobile/internet banking, etc.</a:t>
            </a:r>
          </a:p>
          <a:p>
            <a:r>
              <a:rPr lang="en-US" dirty="0"/>
              <a:t>Complies with national and international financial regulations.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FC3A9-6B6D-461D-BDFF-BBC75D7E8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0581" y="2236764"/>
            <a:ext cx="3636979" cy="49236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Important Areas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2DDD4-51F9-4BFC-9E14-9BD526A48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0581" y="2841674"/>
            <a:ext cx="3636980" cy="358725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Customer Service – Digital experience and accessibility.</a:t>
            </a:r>
          </a:p>
          <a:p>
            <a:r>
              <a:rPr lang="en-US" dirty="0"/>
              <a:t>Risk Management – Handling credit, operational risks.</a:t>
            </a:r>
          </a:p>
          <a:p>
            <a:r>
              <a:rPr lang="en-US" dirty="0"/>
              <a:t>Product Offering – Loans, cards, insurance, etc.</a:t>
            </a:r>
          </a:p>
          <a:p>
            <a:r>
              <a:rPr lang="en-US" dirty="0"/>
              <a:t>Technology Integration – Mobile apps, AI, automation.</a:t>
            </a:r>
          </a:p>
          <a:p>
            <a:r>
              <a:rPr lang="en-US" dirty="0"/>
              <a:t>Profitability &amp; Cost Control – Balancing costs and income.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50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4EA1-2193-4328-A1B1-B3EC7788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Bank Success An Findings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10D04-5840-4BA4-91EC-49C2410B2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9918" y="2236763"/>
            <a:ext cx="3633502" cy="49236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</a:t>
            </a:r>
            <a:r>
              <a:rPr lang="en-IN" dirty="0"/>
              <a:t> 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Success</a:t>
            </a:r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BA5A5-C97D-4ECC-9B19-CFA1FED61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440" y="2841675"/>
            <a:ext cx="3636980" cy="35872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Strong Customer Base.</a:t>
            </a:r>
          </a:p>
          <a:p>
            <a:r>
              <a:rPr lang="en-US" dirty="0"/>
              <a:t>Efficient Credit &amp; Debit Transactions.</a:t>
            </a:r>
          </a:p>
          <a:p>
            <a:r>
              <a:rPr lang="en-US" dirty="0"/>
              <a:t>Low Non-Performing Assets (NPAs).</a:t>
            </a:r>
          </a:p>
          <a:p>
            <a:r>
              <a:rPr lang="en-US" dirty="0"/>
              <a:t>Data-Driven Decision Making.</a:t>
            </a:r>
          </a:p>
          <a:p>
            <a:r>
              <a:rPr lang="en-US" dirty="0"/>
              <a:t>High Transaction Volume with Low Operational Costs.</a:t>
            </a:r>
          </a:p>
          <a:p>
            <a:r>
              <a:rPr lang="en-US" dirty="0"/>
              <a:t>Adaptability to Digital Trends.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FC3A9-6B6D-461D-BDFF-BBC75D7E8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0581" y="2236764"/>
            <a:ext cx="3636979" cy="49236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Findings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2DDD4-51F9-4BFC-9E14-9BD526A48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0581" y="2841674"/>
            <a:ext cx="3636980" cy="358725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High debit transaction frequency on weekdays.</a:t>
            </a:r>
          </a:p>
          <a:p>
            <a:r>
              <a:rPr lang="en-US" dirty="0"/>
              <a:t>Some branches show high customer engagement.</a:t>
            </a:r>
          </a:p>
          <a:p>
            <a:r>
              <a:rPr lang="en-US" dirty="0"/>
              <a:t>Credit transactions peak in Q1 and Q3; debit during festivals.</a:t>
            </a:r>
          </a:p>
          <a:p>
            <a:r>
              <a:rPr lang="en-US" dirty="0"/>
              <a:t>Lower service usage by low-income segments—indicates access gap.</a:t>
            </a:r>
          </a:p>
          <a:p>
            <a:r>
              <a:rPr lang="en-US" dirty="0"/>
              <a:t>Retention higher in auto-payment and reward-linked accounts.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85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Where Bank Needs to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01317" cy="3530600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Digital Inclusion for rural/low-income customers.</a:t>
            </a:r>
          </a:p>
          <a:p>
            <a:r>
              <a:rPr dirty="0"/>
              <a:t>Enhanced transaction monitoring and fraud detection.</a:t>
            </a:r>
          </a:p>
          <a:p>
            <a:r>
              <a:rPr dirty="0"/>
              <a:t>Optimize underperforming branches using analytics.</a:t>
            </a:r>
          </a:p>
          <a:p>
            <a:r>
              <a:rPr dirty="0"/>
              <a:t>Offer personalized services based on customer behavior.</a:t>
            </a:r>
          </a:p>
          <a:p>
            <a:r>
              <a:rPr dirty="0"/>
              <a:t>Improve customer engagement via loyalty and feedback systems.</a:t>
            </a:r>
          </a:p>
          <a:p>
            <a:r>
              <a:rPr dirty="0"/>
              <a:t>Streamline operations to reduce cost-to-income ratio.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Insights – Banking &amp; Debit An Credit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01317" cy="3530600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lang="en-US" dirty="0"/>
              <a:t>Banking analytics empowers financial institutions to make data-driven decisions.</a:t>
            </a:r>
          </a:p>
          <a:p>
            <a:r>
              <a:rPr lang="en-US" dirty="0"/>
              <a:t>It provides deep insights into loan trends, customer behavior, and transaction patterns.</a:t>
            </a:r>
          </a:p>
          <a:p>
            <a:r>
              <a:rPr lang="en-US" dirty="0"/>
              <a:t>Dashboards help visualize complex datasets, allowing banks to optimize operations, manage risk, and better serve customers.</a:t>
            </a:r>
          </a:p>
          <a:p>
            <a:r>
              <a:rPr lang="en-US" dirty="0"/>
              <a:t>This presentation highlights key metrics and performance trends using Excel-based dashboards.</a:t>
            </a:r>
          </a:p>
        </p:txBody>
      </p:sp>
    </p:spTree>
    <p:extLst>
      <p:ext uri="{BB962C8B-B14F-4D97-AF65-F5344CB8AC3E}">
        <p14:creationId xmlns:p14="http://schemas.microsoft.com/office/powerpoint/2010/main" val="155278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703386"/>
            <a:ext cx="7363630" cy="933578"/>
          </a:xfrm>
        </p:spPr>
        <p:txBody>
          <a:bodyPr/>
          <a:lstStyle/>
          <a:p>
            <a:r>
              <a:rPr lang="en-US" dirty="0"/>
              <a:t>Key Insights –Bank Data Analytics-Dashboard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437" y="2208627"/>
            <a:ext cx="3319975" cy="4346917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lang="en-US" dirty="0"/>
              <a:t>Over 65K loan applicants with total funding close to ₹870M.</a:t>
            </a:r>
          </a:p>
          <a:p>
            <a:r>
              <a:rPr lang="en-US" dirty="0"/>
              <a:t>- Home loans are the most sought after, followed by business and agriculture.</a:t>
            </a:r>
          </a:p>
          <a:p>
            <a:r>
              <a:rPr lang="en-US" dirty="0"/>
              <a:t>- Major disbursements occurred in FY2019 and FY2020.</a:t>
            </a:r>
          </a:p>
          <a:p>
            <a:r>
              <a:rPr lang="en-US" dirty="0"/>
              <a:t>- State-wise loan demand highest in top three regions: 18.94%, 16.22%, and 13.08%.</a:t>
            </a:r>
          </a:p>
          <a:p>
            <a:r>
              <a:rPr lang="en-US" dirty="0"/>
              <a:t>- Over 52K applications are unverified, indicating a need for better verification</a:t>
            </a:r>
          </a:p>
        </p:txBody>
      </p:sp>
      <p:pic>
        <p:nvPicPr>
          <p:cNvPr id="4" name="Picture 3" descr="Capture.PNG">
            <a:extLst>
              <a:ext uri="{FF2B5EF4-FFF2-40B4-BE49-F238E27FC236}">
                <a16:creationId xmlns:a16="http://schemas.microsoft.com/office/drawing/2014/main" id="{2A9124AB-EC6E-4725-A299-0816F815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872" y="2208628"/>
            <a:ext cx="5303520" cy="43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4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703386"/>
            <a:ext cx="7363630" cy="933578"/>
          </a:xfrm>
        </p:spPr>
        <p:txBody>
          <a:bodyPr/>
          <a:lstStyle/>
          <a:p>
            <a:r>
              <a:rPr lang="en-US" dirty="0"/>
              <a:t>Key Insights –Debit and Credit Banking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437" y="2208627"/>
            <a:ext cx="3319975" cy="4346917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lang="en-US" dirty="0"/>
              <a:t>- Balanced distribution of transactions across bank transfer, credit card, and debit card.</a:t>
            </a:r>
          </a:p>
          <a:p>
            <a:r>
              <a:rPr lang="en-US" dirty="0"/>
              <a:t>- Top branches show transaction volumes above ₹42K.</a:t>
            </a:r>
          </a:p>
          <a:p>
            <a:r>
              <a:rPr lang="en-US" dirty="0"/>
              <a:t>- Consistent transaction activity across months with minor seasonal dips.</a:t>
            </a:r>
          </a:p>
          <a:p>
            <a:r>
              <a:rPr lang="en-US" dirty="0"/>
              <a:t>- Leading expenses include utility bills, rent, and online purchases.</a:t>
            </a:r>
          </a:p>
          <a:p>
            <a:r>
              <a:rPr lang="en-US" dirty="0"/>
              <a:t>- Multiple banks actively contribute to total balance and transaction volume.</a:t>
            </a:r>
          </a:p>
        </p:txBody>
      </p:sp>
      <p:pic>
        <p:nvPicPr>
          <p:cNvPr id="5" name="Picture 4" descr="WhatsApp Image 2025-07-22 at 12.45.11 PM.jpeg">
            <a:extLst>
              <a:ext uri="{FF2B5EF4-FFF2-40B4-BE49-F238E27FC236}">
                <a16:creationId xmlns:a16="http://schemas.microsoft.com/office/drawing/2014/main" id="{2151CE6F-5E55-41F7-97BD-821DFB15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788" y="2208627"/>
            <a:ext cx="5486400" cy="44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4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Insights – Banking &amp; Debit An Credit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01316" cy="3530600"/>
          </a:xfrm>
        </p:spPr>
        <p:txBody>
          <a:bodyPr>
            <a:normAutofit/>
          </a:bodyPr>
          <a:lstStyle/>
          <a:p>
            <a:r>
              <a:rPr lang="en-US" sz="2400" dirty="0"/>
              <a:t>Purpose of Analysis:</a:t>
            </a:r>
          </a:p>
          <a:p>
            <a:r>
              <a:rPr lang="en-US" sz="2400" dirty="0"/>
              <a:t>• Summarized loan and transaction data across dashboards.</a:t>
            </a:r>
          </a:p>
          <a:p>
            <a:r>
              <a:rPr lang="en-US" sz="2400" dirty="0"/>
              <a:t>Loan growth and high-value customer segments are strong.</a:t>
            </a:r>
          </a:p>
          <a:p>
            <a:r>
              <a:rPr lang="en-US" sz="2400" dirty="0"/>
              <a:t>Opportunities lie in recovery strategies and transaction optimization.</a:t>
            </a:r>
          </a:p>
        </p:txBody>
      </p:sp>
    </p:spTree>
    <p:extLst>
      <p:ext uri="{BB962C8B-B14F-4D97-AF65-F5344CB8AC3E}">
        <p14:creationId xmlns:p14="http://schemas.microsoft.com/office/powerpoint/2010/main" val="56230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661182"/>
            <a:ext cx="7419901" cy="975781"/>
          </a:xfrm>
        </p:spPr>
        <p:txBody>
          <a:bodyPr/>
          <a:lstStyle/>
          <a:p>
            <a:r>
              <a:rPr lang="en-US" dirty="0"/>
              <a:t>Bank Data Analytics-Dashboard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2222695"/>
            <a:ext cx="3094892" cy="4403188"/>
          </a:xfrm>
        </p:spPr>
        <p:txBody>
          <a:bodyPr>
            <a:normAutofit/>
          </a:bodyPr>
          <a:lstStyle/>
          <a:p>
            <a:r>
              <a:rPr lang="en-US" dirty="0"/>
              <a:t>Key Metrics</a:t>
            </a:r>
          </a:p>
          <a:p>
            <a:r>
              <a:rPr lang="en-US" dirty="0"/>
              <a:t>Total Payment: ₹965M</a:t>
            </a:r>
          </a:p>
          <a:p>
            <a:r>
              <a:rPr lang="en-US" dirty="0"/>
              <a:t>Principal Recovered: ₹778M</a:t>
            </a:r>
          </a:p>
          <a:p>
            <a:r>
              <a:rPr lang="en-US" dirty="0"/>
              <a:t>Recoveries: ₹7,564K</a:t>
            </a:r>
          </a:p>
          <a:p>
            <a:r>
              <a:rPr lang="en-US" dirty="0"/>
              <a:t>Top Loan Categories:</a:t>
            </a:r>
          </a:p>
          <a:p>
            <a:r>
              <a:rPr lang="en-US" dirty="0"/>
              <a:t>- Home Loan – ₹302.8K</a:t>
            </a:r>
          </a:p>
          <a:p>
            <a:r>
              <a:rPr lang="en-US" dirty="0"/>
              <a:t>- Business – ₹150.5K</a:t>
            </a:r>
          </a:p>
          <a:p>
            <a:r>
              <a:rPr lang="en-US" dirty="0"/>
              <a:t>- Agriculture – ₹40.8K</a:t>
            </a:r>
          </a:p>
        </p:txBody>
      </p:sp>
      <p:pic>
        <p:nvPicPr>
          <p:cNvPr id="6" name="Picture 5" descr="WhatsApp Image 2025-07-10 at 1.28.06 PM.jpeg">
            <a:extLst>
              <a:ext uri="{FF2B5EF4-FFF2-40B4-BE49-F238E27FC236}">
                <a16:creationId xmlns:a16="http://schemas.microsoft.com/office/drawing/2014/main" id="{73066EE0-7118-413A-BF0E-C67CCCF1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043" y="2194561"/>
            <a:ext cx="5669280" cy="466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1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661182"/>
            <a:ext cx="7419901" cy="975781"/>
          </a:xfrm>
        </p:spPr>
        <p:txBody>
          <a:bodyPr/>
          <a:lstStyle/>
          <a:p>
            <a:r>
              <a:rPr lang="en-US" dirty="0"/>
              <a:t>Debit and Credit -Dashboard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2222695"/>
            <a:ext cx="2940146" cy="4403188"/>
          </a:xfrm>
        </p:spPr>
        <p:txBody>
          <a:bodyPr>
            <a:normAutofit/>
          </a:bodyPr>
          <a:lstStyle/>
          <a:p>
            <a:r>
              <a:rPr lang="en-US" dirty="0"/>
              <a:t>Key Metrics</a:t>
            </a:r>
          </a:p>
          <a:p>
            <a:r>
              <a:rPr lang="en-US" dirty="0"/>
              <a:t>Total Balance: ₹526M</a:t>
            </a:r>
          </a:p>
          <a:p>
            <a:r>
              <a:rPr lang="en-US" dirty="0"/>
              <a:t>Total Amount: ₹255M</a:t>
            </a:r>
          </a:p>
          <a:p>
            <a:r>
              <a:rPr lang="en-US" dirty="0"/>
              <a:t>Customer IDs: 100K</a:t>
            </a:r>
          </a:p>
          <a:p>
            <a:r>
              <a:rPr lang="en-US" dirty="0"/>
              <a:t>Top Customers by Value:</a:t>
            </a:r>
          </a:p>
          <a:p>
            <a:r>
              <a:rPr lang="en-US" dirty="0"/>
              <a:t>- Michael Smith: 26.42%</a:t>
            </a:r>
          </a:p>
          <a:p>
            <a:r>
              <a:rPr lang="en-US" dirty="0"/>
              <a:t>- David Smith: 22.95%</a:t>
            </a:r>
          </a:p>
        </p:txBody>
      </p:sp>
      <p:pic>
        <p:nvPicPr>
          <p:cNvPr id="5" name="Picture 4" descr="WhatsApp Image 2025-07-10 at 1.27.51 PM.jpeg">
            <a:extLst>
              <a:ext uri="{FF2B5EF4-FFF2-40B4-BE49-F238E27FC236}">
                <a16:creationId xmlns:a16="http://schemas.microsoft.com/office/drawing/2014/main" id="{6D637063-858A-46B6-A712-BB61EC62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74" y="2222694"/>
            <a:ext cx="5683349" cy="451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6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Insights – Banking &amp; Debit An Credit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801316" cy="3530600"/>
          </a:xfrm>
        </p:spPr>
        <p:txBody>
          <a:bodyPr>
            <a:normAutofit/>
          </a:bodyPr>
          <a:lstStyle/>
          <a:p>
            <a:r>
              <a:rPr lang="en-US" sz="2400" dirty="0"/>
              <a:t>Purpose of Analysis:</a:t>
            </a:r>
          </a:p>
          <a:p>
            <a:r>
              <a:rPr lang="en-US" sz="2400" dirty="0"/>
              <a:t>• Consolidated view of banking and debit performance</a:t>
            </a:r>
          </a:p>
          <a:p>
            <a:r>
              <a:rPr lang="en-US" sz="2400" dirty="0"/>
              <a:t>Data sources: BANKING and DEBIT AN CREDIT</a:t>
            </a:r>
          </a:p>
          <a:p>
            <a:r>
              <a:rPr lang="en-US" sz="2400" dirty="0"/>
              <a:t>• Focus: Total Loans, Debits, Branch/Product/Customer KPIs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012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Banking Overview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2222695"/>
            <a:ext cx="3094892" cy="4403188"/>
          </a:xfrm>
        </p:spPr>
        <p:txBody>
          <a:bodyPr>
            <a:normAutofit/>
          </a:bodyPr>
          <a:lstStyle/>
          <a:p>
            <a:r>
              <a:rPr lang="en-US" dirty="0"/>
              <a:t>Key Metrics:</a:t>
            </a:r>
          </a:p>
          <a:p>
            <a:r>
              <a:rPr lang="en-US" dirty="0"/>
              <a:t>• Total Loan Amount (by product/branch)</a:t>
            </a:r>
          </a:p>
          <a:p>
            <a:r>
              <a:rPr lang="en-US" dirty="0"/>
              <a:t>• Revenue Breakdown: Interest, Fees, Total</a:t>
            </a:r>
          </a:p>
          <a:p>
            <a:r>
              <a:rPr lang="en-US" dirty="0"/>
              <a:t>• Product-wise Performance Chart</a:t>
            </a:r>
          </a:p>
          <a:p>
            <a:r>
              <a:rPr lang="en-US" dirty="0"/>
              <a:t>📌 Insert relevant Power BI visual screenshot here</a:t>
            </a:r>
          </a:p>
        </p:txBody>
      </p:sp>
      <p:pic>
        <p:nvPicPr>
          <p:cNvPr id="4" name="Picture 3" descr="Bank.PNG">
            <a:extLst>
              <a:ext uri="{FF2B5EF4-FFF2-40B4-BE49-F238E27FC236}">
                <a16:creationId xmlns:a16="http://schemas.microsoft.com/office/drawing/2014/main" id="{2D350CB1-903E-4A05-B623-4698B3480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1" y="2222695"/>
            <a:ext cx="5486400" cy="440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64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Debit  An Credit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2222695"/>
            <a:ext cx="3094892" cy="4403188"/>
          </a:xfrm>
        </p:spPr>
        <p:txBody>
          <a:bodyPr>
            <a:normAutofit/>
          </a:bodyPr>
          <a:lstStyle/>
          <a:p>
            <a:r>
              <a:rPr lang="en-US" dirty="0"/>
              <a:t>Key Metrics:</a:t>
            </a:r>
          </a:p>
          <a:p>
            <a:r>
              <a:rPr lang="en-US" dirty="0"/>
              <a:t>• Total Debits and Monthly Trends</a:t>
            </a:r>
          </a:p>
          <a:p>
            <a:r>
              <a:rPr lang="en-US" dirty="0"/>
              <a:t>• Category-wise or Branch-wise Debits</a:t>
            </a:r>
          </a:p>
          <a:p>
            <a:r>
              <a:rPr lang="en-US" dirty="0"/>
              <a:t>• Customer/Transaction-wise breakdown</a:t>
            </a:r>
          </a:p>
          <a:p>
            <a:r>
              <a:rPr lang="en-US" dirty="0"/>
              <a:t>📌 Insert relevant Power BI visual screenshot here</a:t>
            </a:r>
          </a:p>
        </p:txBody>
      </p:sp>
      <p:pic>
        <p:nvPicPr>
          <p:cNvPr id="5" name="Picture 4" descr="debit.PNG">
            <a:extLst>
              <a:ext uri="{FF2B5EF4-FFF2-40B4-BE49-F238E27FC236}">
                <a16:creationId xmlns:a16="http://schemas.microsoft.com/office/drawing/2014/main" id="{170C897E-2906-4938-BCB2-5D6ACD23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586" y="2222694"/>
            <a:ext cx="5598940" cy="440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27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 for Debit An Credit Analytics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B385A-2CFC-4FDF-8699-D56EEA8D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323" y="3329191"/>
            <a:ext cx="4164035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652945-3B76-4B4D-AEBF-111F7966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4" y="5486320"/>
            <a:ext cx="3881030" cy="1257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A38217-EF14-48B2-977D-6BFEF1E26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40" y="3329191"/>
            <a:ext cx="3860533" cy="10668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979C1F-80DD-46E7-BA9B-74B58EC5B2E8}"/>
              </a:ext>
            </a:extLst>
          </p:cNvPr>
          <p:cNvSpPr/>
          <p:nvPr/>
        </p:nvSpPr>
        <p:spPr>
          <a:xfrm>
            <a:off x="267288" y="4564431"/>
            <a:ext cx="4029075" cy="8841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  <a:r>
              <a:rPr lang="en-US" dirty="0"/>
              <a:t>op 5 Customers by Total Transaction Volume</a:t>
            </a:r>
          </a:p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FA6533-3692-472E-8A6C-5A1B4E81DDD5}"/>
              </a:ext>
            </a:extLst>
          </p:cNvPr>
          <p:cNvSpPr/>
          <p:nvPr/>
        </p:nvSpPr>
        <p:spPr>
          <a:xfrm>
            <a:off x="267288" y="2127522"/>
            <a:ext cx="3896416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Breakdown of Transaction Methods per Bank Data sources: BANKING and DEBIT AN CREDIT</a:t>
            </a:r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484BEB-9AC8-459F-AB94-0339CF902FCD}"/>
              </a:ext>
            </a:extLst>
          </p:cNvPr>
          <p:cNvSpPr/>
          <p:nvPr/>
        </p:nvSpPr>
        <p:spPr>
          <a:xfrm>
            <a:off x="4431323" y="2163168"/>
            <a:ext cx="4061765" cy="10501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Daily Total Debit and Credit Amounts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BC51D9-6B18-4441-B81E-DE96134DDACA}"/>
              </a:ext>
            </a:extLst>
          </p:cNvPr>
          <p:cNvSpPr/>
          <p:nvPr/>
        </p:nvSpPr>
        <p:spPr>
          <a:xfrm>
            <a:off x="4431322" y="4564430"/>
            <a:ext cx="4061765" cy="8841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wise count of transaction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89979-49AD-4B84-ABCB-9486DC313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322" y="5564473"/>
            <a:ext cx="4029075" cy="100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4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Bank success relies on efficiency, digital transformation, and customer focus.</a:t>
            </a:r>
          </a:p>
          <a:p>
            <a:r>
              <a:rPr dirty="0"/>
              <a:t>Data analytics enables better decisions and profitability.</a:t>
            </a:r>
          </a:p>
          <a:p>
            <a:r>
              <a:rPr dirty="0"/>
              <a:t>Continuous monitoring and adaptation are essential in a dynamic market.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69" y="927098"/>
            <a:ext cx="7222953" cy="709865"/>
          </a:xfrm>
        </p:spPr>
        <p:txBody>
          <a:bodyPr/>
          <a:lstStyle/>
          <a:p>
            <a:pPr algn="ctr"/>
            <a:r>
              <a:rPr lang="en-IN" dirty="0"/>
              <a:t>Thank You 😊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616590"/>
            <a:ext cx="7913858" cy="3179299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We appreciate your time and attention!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24CA4-3A43-4887-A965-3E9720682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128" y="3429000"/>
            <a:ext cx="515374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12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133</TotalTime>
  <Words>843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Banking Performance &amp; Strategic Focus</vt:lpstr>
      <vt:lpstr>Introduction of Bank</vt:lpstr>
      <vt:lpstr>Bank Analysis</vt:lpstr>
      <vt:lpstr>Bank Success An Findings</vt:lpstr>
      <vt:lpstr>Areas Where Bank Needs to Focus</vt:lpstr>
      <vt:lpstr>Excel Insights – Banking &amp; Debit An Credit Overview</vt:lpstr>
      <vt:lpstr>Key Insights –Bank Data Analytics-Dashboard </vt:lpstr>
      <vt:lpstr>Key Insights –Debit and Credit Banking Dashboard</vt:lpstr>
      <vt:lpstr>Tableau Insights – Banking &amp; Debit An Credit Overview</vt:lpstr>
      <vt:lpstr>Bank Data Analytics-Dashboard Overview</vt:lpstr>
      <vt:lpstr>Debit and Credit -Dashboard Overview</vt:lpstr>
      <vt:lpstr>Power BI Insights – Banking &amp; Debit An Credit Overview</vt:lpstr>
      <vt:lpstr>Banking Overview </vt:lpstr>
      <vt:lpstr>Debit  An Credit Overview</vt:lpstr>
      <vt:lpstr>SQL Queries for Debit An Credit Analytics</vt:lpstr>
      <vt:lpstr>Conclusion</vt:lpstr>
      <vt:lpstr>Thank You 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Performance &amp; Strategic Focus</dc:title>
  <dc:subject/>
  <dc:creator/>
  <cp:keywords/>
  <dc:description>generated using python-pptx</dc:description>
  <cp:lastModifiedBy>pooja Kanojiya</cp:lastModifiedBy>
  <cp:revision>18</cp:revision>
  <dcterms:created xsi:type="dcterms:W3CDTF">2013-01-27T09:14:16Z</dcterms:created>
  <dcterms:modified xsi:type="dcterms:W3CDTF">2025-07-23T05:26:34Z</dcterms:modified>
  <cp:category/>
</cp:coreProperties>
</file>